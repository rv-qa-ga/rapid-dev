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16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ndranath Vazhenkhat" userId="517f0376-8c6f-460f-bf45-6676180d670a" providerId="ADAL" clId="{67C54465-3E8A-4430-AC7F-30110BE32D0E}"/>
    <pc:docChg chg="custSel modSld">
      <pc:chgData name="Ravindranath Vazhenkhat" userId="517f0376-8c6f-460f-bf45-6676180d670a" providerId="ADAL" clId="{67C54465-3E8A-4430-AC7F-30110BE32D0E}" dt="2026-02-21T00:57:58.637" v="37" actId="20577"/>
      <pc:docMkLst>
        <pc:docMk/>
      </pc:docMkLst>
      <pc:sldChg chg="modSp mod">
        <pc:chgData name="Ravindranath Vazhenkhat" userId="517f0376-8c6f-460f-bf45-6676180d670a" providerId="ADAL" clId="{67C54465-3E8A-4430-AC7F-30110BE32D0E}" dt="2026-02-20T18:32:00.223" v="1" actId="20577"/>
        <pc:sldMkLst>
          <pc:docMk/>
          <pc:sldMk cId="0" sldId="256"/>
        </pc:sldMkLst>
        <pc:spChg chg="mod">
          <ac:chgData name="Ravindranath Vazhenkhat" userId="517f0376-8c6f-460f-bf45-6676180d670a" providerId="ADAL" clId="{67C54465-3E8A-4430-AC7F-30110BE32D0E}" dt="2026-02-20T18:32:00.223" v="1" actId="20577"/>
          <ac:spMkLst>
            <pc:docMk/>
            <pc:sldMk cId="0" sldId="256"/>
            <ac:spMk id="16" creationId="{00000000-0000-0000-0000-000000000000}"/>
          </ac:spMkLst>
        </pc:spChg>
      </pc:sldChg>
      <pc:sldChg chg="modSp mod">
        <pc:chgData name="Ravindranath Vazhenkhat" userId="517f0376-8c6f-460f-bf45-6676180d670a" providerId="ADAL" clId="{67C54465-3E8A-4430-AC7F-30110BE32D0E}" dt="2026-02-21T00:56:52.866" v="2" actId="20577"/>
        <pc:sldMkLst>
          <pc:docMk/>
          <pc:sldMk cId="0" sldId="257"/>
        </pc:sldMkLst>
        <pc:spChg chg="mod">
          <ac:chgData name="Ravindranath Vazhenkhat" userId="517f0376-8c6f-460f-bf45-6676180d670a" providerId="ADAL" clId="{67C54465-3E8A-4430-AC7F-30110BE32D0E}" dt="2026-02-21T00:56:52.866" v="2" actId="20577"/>
          <ac:spMkLst>
            <pc:docMk/>
            <pc:sldMk cId="0" sldId="257"/>
            <ac:spMk id="39" creationId="{00000000-0000-0000-0000-000000000000}"/>
          </ac:spMkLst>
        </pc:spChg>
      </pc:sldChg>
      <pc:sldChg chg="modSp mod">
        <pc:chgData name="Ravindranath Vazhenkhat" userId="517f0376-8c6f-460f-bf45-6676180d670a" providerId="ADAL" clId="{67C54465-3E8A-4430-AC7F-30110BE32D0E}" dt="2026-02-21T00:57:58.637" v="37" actId="20577"/>
        <pc:sldMkLst>
          <pc:docMk/>
          <pc:sldMk cId="0" sldId="258"/>
        </pc:sldMkLst>
        <pc:spChg chg="mod">
          <ac:chgData name="Ravindranath Vazhenkhat" userId="517f0376-8c6f-460f-bf45-6676180d670a" providerId="ADAL" clId="{67C54465-3E8A-4430-AC7F-30110BE32D0E}" dt="2026-02-21T00:57:58.637" v="37" actId="20577"/>
          <ac:spMkLst>
            <pc:docMk/>
            <pc:sldMk cId="0" sldId="258"/>
            <ac:spMk id="7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7946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1AD833-6F5B-76A7-1EFC-AEA803E266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701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43053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Process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98348" y="50520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  &amp;   Who Is Involved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64795" y="763143"/>
            <a:ext cx="8507730" cy="1280160"/>
          </a:xfrm>
          <a:prstGeom prst="roundRect">
            <a:avLst>
              <a:gd name="adj" fmla="val 6154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9115" y="854583"/>
            <a:ext cx="804100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month-end close is a critical, recurring operational cycle where Accelerant processes, validates, and reconciles all financial data across multiple systems, regions, and entities — culminating in consolidated financial statements for that month.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9115" y="1403223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at the end of each month and involves executing a sequenced set of stored procedures that generate CSV files consumed by downstream finance, reinsurance, and reporting systems.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058" y="191464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Involved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058" y="2226183"/>
            <a:ext cx="45719" cy="338971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938" y="2226183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938" y="2500503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BDX loading ~1 week before close per the month-end calendar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058" y="2939415"/>
            <a:ext cx="45719" cy="338971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5938" y="2939415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Support (Stacey's team)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938" y="3213735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month-end process in production every month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058" y="3652647"/>
            <a:ext cx="45719" cy="338971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5938" y="3652647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(EU / US / CA)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938" y="3926967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Reviews, approves, and posts journal entries to the ledger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2022" y="2287084"/>
            <a:ext cx="45719" cy="338971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4902" y="2287084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4902" y="2561404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ODS, TDS, and Data Products pipelines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32022" y="3000316"/>
            <a:ext cx="45719" cy="338971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4902" y="3000316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Technology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4902" y="3274636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availability — Dynamics 365, Tagetik, infrastructure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32022" y="3713548"/>
            <a:ext cx="45719" cy="338971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14902" y="3713548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Engineering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4902" y="3987868"/>
            <a:ext cx="4146042" cy="1668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process changes; validates new insurers and regions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058" y="4128897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System Flow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3058" y="4521357"/>
            <a:ext cx="699516" cy="502920"/>
          </a:xfrm>
          <a:prstGeom prst="roundRect">
            <a:avLst>
              <a:gd name="adj" fmla="val 10909"/>
            </a:avLst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058" y="4521357"/>
            <a:ext cx="6995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BDX</a:t>
            </a:r>
            <a:endParaRPr lang="en-US" sz="9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50435" y="4521357"/>
            <a:ext cx="1454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CA3"/>
                </a:solidFill>
              </a:rPr>
              <a:t>▸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69891" y="4521357"/>
            <a:ext cx="699516" cy="502920"/>
          </a:xfrm>
          <a:prstGeom prst="roundRect">
            <a:avLst>
              <a:gd name="adj" fmla="val 10909"/>
            </a:avLst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69891" y="4521357"/>
            <a:ext cx="6995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</a:t>
            </a:r>
            <a:endParaRPr lang="en-US" sz="9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75147" y="4521357"/>
            <a:ext cx="1454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CA3"/>
                </a:solidFill>
              </a:rPr>
              <a:t>▸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194603" y="4521357"/>
            <a:ext cx="699516" cy="502920"/>
          </a:xfrm>
          <a:prstGeom prst="roundRect">
            <a:avLst>
              <a:gd name="adj" fmla="val 10909"/>
            </a:avLst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194603" y="4521357"/>
            <a:ext cx="6995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</a:t>
            </a:r>
            <a:endParaRPr lang="en-US" sz="9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69873" y="4521357"/>
            <a:ext cx="1454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CA3"/>
                </a:solidFill>
              </a:rPr>
              <a:t>▸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189329" y="4521357"/>
            <a:ext cx="699516" cy="502920"/>
          </a:xfrm>
          <a:prstGeom prst="roundRect">
            <a:avLst>
              <a:gd name="adj" fmla="val 10909"/>
            </a:avLst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189329" y="4521357"/>
            <a:ext cx="6995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</a:t>
            </a:r>
            <a:endParaRPr lang="en-US" sz="9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060338" y="4521357"/>
            <a:ext cx="1454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CA3"/>
                </a:solidFill>
              </a:rPr>
              <a:t>▸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259176" y="4529768"/>
            <a:ext cx="699516" cy="502920"/>
          </a:xfrm>
          <a:prstGeom prst="roundRect">
            <a:avLst>
              <a:gd name="adj" fmla="val 10909"/>
            </a:avLst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259176" y="4529768"/>
            <a:ext cx="6995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D365</a:t>
            </a:r>
            <a:endParaRPr lang="en-US" sz="9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/ SL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09658" y="4529768"/>
            <a:ext cx="1454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CA3"/>
                </a:solidFill>
              </a:rPr>
              <a:t>▸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329114" y="4529768"/>
            <a:ext cx="699516" cy="502920"/>
          </a:xfrm>
          <a:prstGeom prst="roundRect">
            <a:avLst>
              <a:gd name="adj" fmla="val 10909"/>
            </a:avLst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329114" y="4529768"/>
            <a:ext cx="6995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Tagetik and DCR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93312" y="4529768"/>
            <a:ext cx="1454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CA3"/>
                </a:solidFill>
              </a:rPr>
              <a:t>▸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412768" y="4529768"/>
            <a:ext cx="699516" cy="502920"/>
          </a:xfrm>
          <a:prstGeom prst="roundRect">
            <a:avLst>
              <a:gd name="adj" fmla="val 10909"/>
            </a:avLst>
          </a:prstGeom>
          <a:solidFill>
            <a:srgbClr val="00C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12768" y="4529768"/>
            <a:ext cx="6995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</a:t>
            </a:r>
            <a:endParaRPr lang="en-US" sz="9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-465582" y="5207889"/>
            <a:ext cx="12188952" cy="1828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83058" y="5244465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ACCELERANT   ·   CONFIDENTIAL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0690098" y="5244465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2193" y="89015"/>
            <a:ext cx="6995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Team's Role in Month-End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2193" y="637655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Changes   ·   Validating Outputs   ·   Supporting Stability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89473" y="957695"/>
            <a:ext cx="8329930" cy="594360"/>
          </a:xfrm>
          <a:prstGeom prst="roundRect">
            <a:avLst>
              <a:gd name="adj" fmla="val 10667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89473" y="957695"/>
            <a:ext cx="54864" cy="685800"/>
          </a:xfrm>
          <a:prstGeom prst="rect">
            <a:avLst/>
          </a:prstGeom>
          <a:solidFill>
            <a:srgbClr val="F2C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9513" y="1003415"/>
            <a:ext cx="7712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does not run the month-end process in production. Production Support (Stacey's team) executes it monthly. QA is engaged when changes are made to stored procedures, mappings, or when new insurers / contract types /regions are onboarded.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935" y="1638241"/>
            <a:ext cx="2004312" cy="2981960"/>
          </a:xfrm>
          <a:prstGeom prst="roundRect">
            <a:avLst>
              <a:gd name="adj" fmla="val 2778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35" y="1638241"/>
            <a:ext cx="2004312" cy="47084"/>
          </a:xfrm>
          <a:prstGeom prst="rect">
            <a:avLst/>
          </a:prstGeom>
          <a:solidFill>
            <a:srgbClr val="2B7D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0815" y="1912561"/>
            <a:ext cx="1725936" cy="274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Testing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0815" y="2324040"/>
            <a:ext cx="1725936" cy="45719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90815" y="2552641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modifications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0815" y="3147001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updated field mappings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90815" y="3741361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or table changes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5746" y="4106619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fee codes or LOB mappings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99631" y="1638241"/>
            <a:ext cx="2004312" cy="2981960"/>
          </a:xfrm>
          <a:prstGeom prst="roundRect">
            <a:avLst>
              <a:gd name="adj" fmla="val 2778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99631" y="1638241"/>
            <a:ext cx="2004312" cy="47084"/>
          </a:xfrm>
          <a:prstGeom prst="rect">
            <a:avLst/>
          </a:prstGeom>
          <a:solidFill>
            <a:srgbClr val="00C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2511" y="1912561"/>
            <a:ext cx="1725936" cy="274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Validation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2511" y="2324040"/>
            <a:ext cx="1725936" cy="45719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82511" y="2552641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 generation verification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282511" y="3147001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 &amp; schema compliance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282511" y="3741361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totals &amp; row counts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67442" y="4140328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completeness checks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91327" y="1631685"/>
            <a:ext cx="2004312" cy="2981960"/>
          </a:xfrm>
          <a:prstGeom prst="roundRect">
            <a:avLst>
              <a:gd name="adj" fmla="val 2778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91327" y="1631685"/>
            <a:ext cx="2004312" cy="47084"/>
          </a:xfrm>
          <a:prstGeom prst="rect">
            <a:avLst/>
          </a:prstGeom>
          <a:solidFill>
            <a:srgbClr val="F2C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374207" y="1906005"/>
            <a:ext cx="1725936" cy="274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Contract Type/ Insurer / Region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374207" y="2317484"/>
            <a:ext cx="1725936" cy="45719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74207" y="2546085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for new entity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74207" y="3140445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data alignment (RDM / CMT)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74207" y="3734805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system acceptance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330515" y="4207711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DCR mapping validation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313161" y="1623843"/>
            <a:ext cx="2004312" cy="2981960"/>
          </a:xfrm>
          <a:prstGeom prst="roundRect">
            <a:avLst>
              <a:gd name="adj" fmla="val 2778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13161" y="1623843"/>
            <a:ext cx="2004312" cy="47084"/>
          </a:xfrm>
          <a:prstGeom prst="rect">
            <a:avLst/>
          </a:prstGeom>
          <a:solidFill>
            <a:srgbClr val="2CC9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96041" y="1898163"/>
            <a:ext cx="1725936" cy="2746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496041" y="2309642"/>
            <a:ext cx="1725936" cy="45719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96041" y="2538243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— system readiness checks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96041" y="3132603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— multi-hop data flows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96041" y="3726963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monthly validation pack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96041" y="4166404"/>
            <a:ext cx="1725936" cy="4315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20000"/>
              </a:lnSpc>
            </a:pP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7212" y="4643120"/>
            <a:ext cx="8248650" cy="365760"/>
          </a:xfrm>
          <a:prstGeom prst="roundRect">
            <a:avLst>
              <a:gd name="adj" fmla="val 20000"/>
            </a:avLst>
          </a:prstGeom>
          <a:solidFill>
            <a:srgbClr val="1628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11532" y="4643120"/>
            <a:ext cx="784627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Catch issues before they reach production — reduce multi-day resolution cycles during the live close window.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-419988" y="5127752"/>
            <a:ext cx="8939391" cy="1828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ACCELERANT   ·   CONFIDENTIAL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115568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C9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4190" y="118872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Challenges &amp; Path Forward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15620" y="5715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C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Issues   ·   Business Impact   ·   Strategic Options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91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 Heatmap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090676"/>
            <a:ext cx="6508750" cy="320040"/>
          </a:xfrm>
          <a:prstGeom prst="roundRect">
            <a:avLst>
              <a:gd name="adj" fmla="val 22857"/>
            </a:avLst>
          </a:prstGeom>
          <a:solidFill>
            <a:srgbClr val="1628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90676"/>
            <a:ext cx="191924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514600" y="1090676"/>
            <a:ext cx="6675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37560" y="1090676"/>
            <a:ext cx="350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438148"/>
            <a:ext cx="6508750" cy="41148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438148"/>
            <a:ext cx="191924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DCR/ Tagetik Alignment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0" y="1520444"/>
            <a:ext cx="584119" cy="246888"/>
          </a:xfrm>
          <a:prstGeom prst="roundRect">
            <a:avLst>
              <a:gd name="adj" fmla="val 14815"/>
            </a:avLst>
          </a:prstGeom>
          <a:solidFill>
            <a:srgbClr val="E53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1520444"/>
            <a:ext cx="58411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337560" y="1438148"/>
            <a:ext cx="3504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Late-arriving data, mismatched mappings, missing reference values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877060"/>
            <a:ext cx="6508750" cy="411480"/>
          </a:xfrm>
          <a:prstGeom prst="rect">
            <a:avLst/>
          </a:prstGeom>
          <a:solidFill>
            <a:srgbClr val="0D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1877060"/>
            <a:ext cx="191924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Load Failures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1959356"/>
            <a:ext cx="584119" cy="246888"/>
          </a:xfrm>
          <a:prstGeom prst="roundRect">
            <a:avLst>
              <a:gd name="adj" fmla="val 14815"/>
            </a:avLst>
          </a:prstGeom>
          <a:solidFill>
            <a:srgbClr val="E53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560320" y="1959356"/>
            <a:ext cx="58411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37560" y="1877060"/>
            <a:ext cx="3504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BDX format mismatches, schema drift, missing fields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2315972"/>
            <a:ext cx="6508750" cy="41148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2315972"/>
            <a:ext cx="191924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Fixes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560320" y="2398268"/>
            <a:ext cx="584119" cy="246888"/>
          </a:xfrm>
          <a:prstGeom prst="roundRect">
            <a:avLst>
              <a:gd name="adj" fmla="val 14815"/>
            </a:avLst>
          </a:prstGeom>
          <a:solidFill>
            <a:srgbClr val="E539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560320" y="2398268"/>
            <a:ext cx="58411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37560" y="2315972"/>
            <a:ext cx="3504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fix scripts per region / insurer before every snapshot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" y="2754884"/>
            <a:ext cx="6508750" cy="411480"/>
          </a:xfrm>
          <a:prstGeom prst="rect">
            <a:avLst/>
          </a:prstGeom>
          <a:solidFill>
            <a:srgbClr val="0D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1480" y="2754884"/>
            <a:ext cx="191924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&amp; Journal Errors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0320" y="2837180"/>
            <a:ext cx="584119" cy="246888"/>
          </a:xfrm>
          <a:prstGeom prst="roundRect">
            <a:avLst>
              <a:gd name="adj" fmla="val 14815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60320" y="2837180"/>
            <a:ext cx="58411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7560" y="2754884"/>
            <a:ext cx="3504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mismatches, incorrect mappings, missing RDM values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" y="3193796"/>
            <a:ext cx="6508750" cy="411480"/>
          </a:xfrm>
          <a:prstGeom prst="rect">
            <a:avLst/>
          </a:prstGeom>
          <a:solidFill>
            <a:srgbClr val="111F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1480" y="3193796"/>
            <a:ext cx="191924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(EU / US)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560320" y="3276092"/>
            <a:ext cx="584119" cy="246888"/>
          </a:xfrm>
          <a:prstGeom prst="roundRect">
            <a:avLst>
              <a:gd name="adj" fmla="val 14815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560320" y="3276092"/>
            <a:ext cx="58411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337560" y="3193796"/>
            <a:ext cx="3504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variance, inconsistent thresholds, manual routing delays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632708"/>
            <a:ext cx="6508750" cy="411480"/>
          </a:xfrm>
          <a:prstGeom prst="rect">
            <a:avLst/>
          </a:prstGeom>
          <a:solidFill>
            <a:srgbClr val="0D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3632708"/>
            <a:ext cx="191924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Reconciliations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560320" y="3715004"/>
            <a:ext cx="584119" cy="246888"/>
          </a:xfrm>
          <a:prstGeom prst="roundRect">
            <a:avLst>
              <a:gd name="adj" fmla="val 14815"/>
            </a:avLst>
          </a:prstGeom>
          <a:solidFill>
            <a:srgbClr val="2CC9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560320" y="3715004"/>
            <a:ext cx="584119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337560" y="3632708"/>
            <a:ext cx="35047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timing differences, reference mismatches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043420" y="97053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13275" y="1351280"/>
            <a:ext cx="2260875" cy="411480"/>
          </a:xfrm>
          <a:prstGeom prst="roundRect">
            <a:avLst>
              <a:gd name="adj" fmla="val 10000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2" name="Shape 40"/>
          <p:cNvSpPr/>
          <p:nvPr/>
        </p:nvSpPr>
        <p:spPr>
          <a:xfrm>
            <a:off x="6813275" y="1351280"/>
            <a:ext cx="45719" cy="411480"/>
          </a:xfrm>
          <a:prstGeom prst="rect">
            <a:avLst/>
          </a:prstGeom>
          <a:solidFill>
            <a:srgbClr val="E5394A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3" name="Text 41"/>
          <p:cNvSpPr/>
          <p:nvPr/>
        </p:nvSpPr>
        <p:spPr>
          <a:xfrm>
            <a:off x="7041876" y="1397000"/>
            <a:ext cx="847828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47503" y="1379347"/>
            <a:ext cx="1186959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cycles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month-end close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813275" y="1869313"/>
            <a:ext cx="2260875" cy="411480"/>
          </a:xfrm>
          <a:prstGeom prst="roundRect">
            <a:avLst>
              <a:gd name="adj" fmla="val 10000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6813275" y="1869313"/>
            <a:ext cx="45719" cy="411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7041876" y="1915033"/>
            <a:ext cx="847828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Regions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847503" y="1897380"/>
            <a:ext cx="1186959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EU, UK, US, CA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impacted simultaneously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813275" y="2378710"/>
            <a:ext cx="2260875" cy="411480"/>
          </a:xfrm>
          <a:prstGeom prst="roundRect">
            <a:avLst>
              <a:gd name="adj" fmla="val 10000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0" name="Shape 48"/>
          <p:cNvSpPr/>
          <p:nvPr/>
        </p:nvSpPr>
        <p:spPr>
          <a:xfrm>
            <a:off x="6813275" y="2378710"/>
            <a:ext cx="45719" cy="411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7041876" y="2424430"/>
            <a:ext cx="847828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Systems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847503" y="2406777"/>
            <a:ext cx="1186959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DCR, Tagetik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downstream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813275" y="2885440"/>
            <a:ext cx="2260875" cy="411480"/>
          </a:xfrm>
          <a:prstGeom prst="roundRect">
            <a:avLst>
              <a:gd name="adj" fmla="val 10000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4" name="Shape 52"/>
          <p:cNvSpPr/>
          <p:nvPr/>
        </p:nvSpPr>
        <p:spPr>
          <a:xfrm>
            <a:off x="6813275" y="2885440"/>
            <a:ext cx="45719" cy="411480"/>
          </a:xfrm>
          <a:prstGeom prst="rect">
            <a:avLst/>
          </a:prstGeom>
          <a:solidFill>
            <a:srgbClr val="E5394A"/>
          </a:solidFill>
          <a:ln/>
        </p:spPr>
        <p:txBody>
          <a:bodyPr/>
          <a:lstStyle/>
          <a:p>
            <a:endParaRPr lang="en-US" sz="1200"/>
          </a:p>
        </p:txBody>
      </p:sp>
      <p:sp>
        <p:nvSpPr>
          <p:cNvPr id="55" name="Text 53"/>
          <p:cNvSpPr/>
          <p:nvPr/>
        </p:nvSpPr>
        <p:spPr>
          <a:xfrm>
            <a:off x="7041876" y="2931160"/>
            <a:ext cx="847828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5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Co.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847503" y="2913507"/>
            <a:ext cx="1186959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deadlines</a:t>
            </a:r>
            <a:endParaRPr lang="en-US" sz="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700" dirty="0">
                <a:solidFill>
                  <a:srgbClr val="D6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non-negotiable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87020" y="406247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Options Under Evaluation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115570" y="4315157"/>
            <a:ext cx="2773680" cy="804008"/>
          </a:xfrm>
          <a:prstGeom prst="roundRect">
            <a:avLst>
              <a:gd name="adj" fmla="val 6400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59" name="Shape 57"/>
          <p:cNvSpPr/>
          <p:nvPr/>
        </p:nvSpPr>
        <p:spPr>
          <a:xfrm>
            <a:off x="252731" y="4424885"/>
            <a:ext cx="815694" cy="154369"/>
          </a:xfrm>
          <a:prstGeom prst="roundRect">
            <a:avLst>
              <a:gd name="adj" fmla="val 16667"/>
            </a:avLst>
          </a:prstGeom>
          <a:solidFill>
            <a:srgbClr val="2CC9A0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60" name="Text 58"/>
          <p:cNvSpPr/>
          <p:nvPr/>
        </p:nvSpPr>
        <p:spPr>
          <a:xfrm>
            <a:off x="252731" y="4424885"/>
            <a:ext cx="815694" cy="154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3012631" y="4310380"/>
            <a:ext cx="2757961" cy="804008"/>
          </a:xfrm>
          <a:prstGeom prst="roundRect">
            <a:avLst>
              <a:gd name="adj" fmla="val 6400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64" name="Shape 62"/>
          <p:cNvSpPr/>
          <p:nvPr/>
        </p:nvSpPr>
        <p:spPr>
          <a:xfrm>
            <a:off x="3121048" y="4404106"/>
            <a:ext cx="698218" cy="154369"/>
          </a:xfrm>
          <a:prstGeom prst="roundRect">
            <a:avLst>
              <a:gd name="adj" fmla="val 16667"/>
            </a:avLst>
          </a:prstGeom>
          <a:solidFill>
            <a:srgbClr val="F4A261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65" name="Text 63"/>
          <p:cNvSpPr/>
          <p:nvPr/>
        </p:nvSpPr>
        <p:spPr>
          <a:xfrm>
            <a:off x="3121048" y="4404106"/>
            <a:ext cx="698218" cy="154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5879008" y="4295980"/>
            <a:ext cx="3230830" cy="804008"/>
          </a:xfrm>
          <a:prstGeom prst="roundRect">
            <a:avLst>
              <a:gd name="adj" fmla="val 6400"/>
            </a:avLst>
          </a:prstGeom>
          <a:solidFill>
            <a:srgbClr val="111F36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69" name="Shape 67"/>
          <p:cNvSpPr/>
          <p:nvPr/>
        </p:nvSpPr>
        <p:spPr>
          <a:xfrm>
            <a:off x="6016169" y="4405708"/>
            <a:ext cx="817932" cy="154369"/>
          </a:xfrm>
          <a:prstGeom prst="roundRect">
            <a:avLst>
              <a:gd name="adj" fmla="val 16667"/>
            </a:avLst>
          </a:prstGeom>
          <a:solidFill>
            <a:srgbClr val="E5394A"/>
          </a:solidFill>
          <a:ln/>
        </p:spPr>
        <p:txBody>
          <a:bodyPr/>
          <a:lstStyle/>
          <a:p>
            <a:endParaRPr lang="en-US" sz="1400"/>
          </a:p>
        </p:txBody>
      </p:sp>
      <p:sp>
        <p:nvSpPr>
          <p:cNvPr id="70" name="Text 68"/>
          <p:cNvSpPr/>
          <p:nvPr/>
        </p:nvSpPr>
        <p:spPr>
          <a:xfrm>
            <a:off x="6016169" y="4405708"/>
            <a:ext cx="817932" cy="154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7022009" y="4369133"/>
            <a:ext cx="2044829" cy="205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Re-Architecture Evaluation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935582" y="4549267"/>
            <a:ext cx="2944554" cy="4180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complete re-architecture of the stored procedure chain — modernise pipelines to eliminate </a:t>
            </a:r>
            <a:r>
              <a:rPr lang="en-US" sz="80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failures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0" y="6565392"/>
            <a:ext cx="12188952" cy="18288"/>
          </a:xfrm>
          <a:prstGeom prst="rect">
            <a:avLst/>
          </a:prstGeom>
          <a:solidFill>
            <a:srgbClr val="1E3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548640" y="66019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ACCELERANT   ·   CONFIDENTIAL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1155680" y="660196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B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82bf684-df26-4858-acfe-97fadb7ff4a1}" enabled="1" method="Standard" siteId="{7f2a4710-29fa-4343-8422-e2cf0174c0ec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524</Words>
  <Application>Microsoft Office PowerPoint</Application>
  <PresentationFormat>On-screen Show (16:9)</PresentationFormat>
  <Paragraphs>112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Accelerant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Month-End Close Process &amp; QA Involvement</dc:title>
  <dc:subject>PptxGenJS Presentation</dc:subject>
  <dc:creator>QA Engineering</dc:creator>
  <cp:lastModifiedBy>Ravindranath Vazhenkhat</cp:lastModifiedBy>
  <cp:revision>2</cp:revision>
  <dcterms:created xsi:type="dcterms:W3CDTF">2026-02-20T18:11:09Z</dcterms:created>
  <dcterms:modified xsi:type="dcterms:W3CDTF">2026-02-21T00:57:59Z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Confidential</vt:lpwstr>
  </property>
</Properties>
</file>